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60" r:id="rId2"/>
    <p:sldId id="4421" r:id="rId3"/>
    <p:sldId id="4422" r:id="rId4"/>
    <p:sldId id="4423" r:id="rId5"/>
    <p:sldId id="4424" r:id="rId6"/>
    <p:sldId id="4425" r:id="rId7"/>
    <p:sldId id="4426" r:id="rId8"/>
    <p:sldId id="4427" r:id="rId9"/>
    <p:sldId id="4428" r:id="rId10"/>
    <p:sldId id="4429" r:id="rId11"/>
    <p:sldId id="4430" r:id="rId12"/>
    <p:sldId id="4440" r:id="rId13"/>
    <p:sldId id="4441" r:id="rId14"/>
    <p:sldId id="4442" r:id="rId15"/>
    <p:sldId id="4431" r:id="rId16"/>
    <p:sldId id="4433" r:id="rId17"/>
    <p:sldId id="4434" r:id="rId18"/>
    <p:sldId id="4435" r:id="rId19"/>
    <p:sldId id="4443" r:id="rId20"/>
    <p:sldId id="4436" r:id="rId21"/>
    <p:sldId id="4438" r:id="rId22"/>
    <p:sldId id="4439" r:id="rId23"/>
    <p:sldId id="4437" r:id="rId24"/>
    <p:sldId id="4446" r:id="rId25"/>
    <p:sldId id="4448" r:id="rId26"/>
    <p:sldId id="4447" r:id="rId27"/>
    <p:sldId id="4449" r:id="rId28"/>
    <p:sldId id="4450" r:id="rId29"/>
    <p:sldId id="4444" r:id="rId30"/>
    <p:sldId id="4445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87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136" y="-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F83ABB-A641-41B3-815B-0BF71611796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464667-E269-4945-B7C0-AD99F8954A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891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2225B-E41B-77C0-1A23-7FE91583AB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A84B7F-BF54-53DE-5ED7-2CDED8A4B9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18E42-7938-EBF6-0BBB-C03E98259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74C66D-7C77-1BC2-E297-5581F607B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C71FE2-01D7-8CFA-F772-2A12DADA9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976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69414-E7DE-B18D-3123-DBD0283DA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9AEC70-B92A-CC7C-576E-A961A566DF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40CFBF-3986-2ECA-DC6E-B0EB5EEAE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5622A7-D018-3314-6712-AC0A3E326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F858B-9E65-33C3-1330-DDC559B7F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14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99EF2-BE12-339C-53A6-D7F37ED5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5EA9B6-8FA8-149E-9646-FB301CFB14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25791-C68A-6622-2CC5-3C0B28333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7CB1C5-90B9-0823-9015-AF5F09CF9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9B8B6-BAA6-240F-60BE-518B08A68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1014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E3121-A2A6-067F-9BB5-431330CD0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B61458-6F42-1FC6-02A5-B26BB0448D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0A9E45-D816-7EFD-3CAA-178E16FA00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34DE17-8AF8-1452-3C2B-1E8AC11C0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F04EE6-8A95-F57F-A192-3DE3AA413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37B0C8-4507-0579-A941-6A255E92B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883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D41E2-A077-4FE6-C0D3-E53AD7692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8D9F13-A5D4-37A3-1493-299424981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5EE514-EB19-276A-D5A5-AD3B452852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4ECFBA-4BCE-DB10-1A82-A2D64F058E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FB50E7-10C2-3309-2CDC-0F66334ED7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1554FF-26AD-988B-1BE6-17295ED2C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EB7DB9-3BFA-EEC0-380B-FF6C9131A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18BED0-2F21-3460-79B8-7290A76A4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078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70D88-D9A6-E2BA-4D07-31B2E1E8C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9C88D8-4119-A0E3-1E19-520074B60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BD6728-10D0-DD4F-070F-D8887DC407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1F0AF4-0EB8-E3C6-BC9D-0F225B0D6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913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6305AF-CB28-6234-0989-07022337F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5B88D4-A6C0-E1B7-8994-A86076DAC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2BBE91-403E-73E0-6DB4-5910441B7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680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51ACB-DC8B-620D-E3BF-7FA852E0A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C1B764-533F-1B5D-0611-138F699344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B5571B-161E-E09A-5698-4A40CFD312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211E9-C5AE-278A-0394-D5A3F4277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7A9B3E-94F2-61BE-DDC5-42C051384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552E40-E8E1-BD3E-81E3-532D7B29B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4003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F0294-46E3-230A-33FB-B650A56B8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C59121-E297-856F-8ED2-F9B862BEEC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44B73E-5B9E-91E2-5353-C491A0CF95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24E462-7BB8-F752-941C-B91D00225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C8DAB4-C59B-C493-7D76-5E1C91DA5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1DC2E0-CCB3-2997-598A-4720CC284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1037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779BFA-EF8F-EA09-32AE-D64B8AE7D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6459FB-C2B4-23D4-5E49-19DBA37F4E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F53C33-E5A3-B4F5-E8BF-0885DE881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B3BEFD-E011-F7CA-9B31-F27B73919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199C5A-F8B7-9E90-F8CD-0F9D22014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137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C63739-7054-0E76-0B25-A01771D40C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38EBE8-732F-CBA6-F8BB-30CF1BAE2D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9432A-8B6F-76F0-0D7B-30A66B962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C8D616-BCA7-5689-02D1-3CA3EA884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983D8B-7730-9BA0-75AA-DC12AF5D0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253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BEEC88-9CA5-4612-35B7-82E0244A7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ADCC53-C329-CE13-38A1-EB94C1E16C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1CA58-D0E5-D20E-2F11-B1014BAA02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54645D-A023-304B-CF92-E94304A16A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E39631-FBA3-5F80-C564-B320E69D3D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09B860-F767-CF44-CE1F-64E3F076B1F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78488" y="6672580"/>
            <a:ext cx="855662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General - RPS Data</a:t>
            </a:r>
          </a:p>
        </p:txBody>
      </p:sp>
    </p:spTree>
    <p:extLst>
      <p:ext uri="{BB962C8B-B14F-4D97-AF65-F5344CB8AC3E}">
        <p14:creationId xmlns:p14="http://schemas.microsoft.com/office/powerpoint/2010/main" val="3411653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Bhatnagar09/Wipro-Capstoneproject-team14.git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jpe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MANVITHA-PADALA/onlinebookstore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87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2"/>
          <a:srcRect l="1" r="-387" b="18588"/>
          <a:stretch/>
        </p:blipFill>
        <p:spPr>
          <a:xfrm>
            <a:off x="366227" y="237669"/>
            <a:ext cx="1212311" cy="788699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366227" y="1503753"/>
            <a:ext cx="11555519" cy="998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425"/>
              </a:lnSpc>
              <a:spcBef>
                <a:spcPct val="0"/>
              </a:spcBef>
            </a:pPr>
            <a:r>
              <a:rPr lang="en-US" sz="2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WIPRO NGA Program – 25SUB4530_CP_JAVA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66227" y="3275236"/>
            <a:ext cx="6780319" cy="5749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Capstone Project Presentation – 9</a:t>
            </a:r>
            <a:r>
              <a:rPr lang="en-US" sz="2400" baseline="30000" dirty="0">
                <a:solidFill>
                  <a:srgbClr val="FFFFFF"/>
                </a:solidFill>
                <a:latin typeface="HK Grotesk" pitchFamily="2" charset="77"/>
              </a:rPr>
              <a:t>th</a:t>
            </a: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 Feb &amp; 10</a:t>
            </a:r>
            <a:r>
              <a:rPr lang="en-US" sz="2400" baseline="30000" dirty="0">
                <a:solidFill>
                  <a:srgbClr val="FFFFFF"/>
                </a:solidFill>
                <a:latin typeface="HK Grotesk" pitchFamily="2" charset="77"/>
              </a:rPr>
              <a:t>th</a:t>
            </a: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 Feb   2026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6226" y="6140450"/>
            <a:ext cx="4172935" cy="221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867"/>
              </a:lnSpc>
              <a:spcBef>
                <a:spcPct val="0"/>
              </a:spcBef>
            </a:pPr>
            <a:r>
              <a:rPr lang="en-US" sz="1333" spc="133" dirty="0">
                <a:solidFill>
                  <a:srgbClr val="FFFFFF"/>
                </a:solidFill>
                <a:latin typeface="HK Grotesk Light Bold"/>
              </a:rPr>
              <a:t>www.rpsconsulting.in</a:t>
            </a: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ED66556B-B256-8D8D-E60E-0C5895B5FFA5}"/>
              </a:ext>
            </a:extLst>
          </p:cNvPr>
          <p:cNvSpPr txBox="1"/>
          <p:nvPr/>
        </p:nvSpPr>
        <p:spPr>
          <a:xfrm>
            <a:off x="366226" y="5061410"/>
            <a:ext cx="9676272" cy="1139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Presented by – Team 14</a:t>
            </a:r>
          </a:p>
          <a:p>
            <a:pPr algn="just"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                             Pranav Bhatnagar 58684</a:t>
            </a:r>
          </a:p>
          <a:p>
            <a:pPr algn="just"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                             Padala </a:t>
            </a:r>
            <a:r>
              <a:rPr lang="en-US" sz="2400" dirty="0" err="1">
                <a:solidFill>
                  <a:srgbClr val="FFFFFF"/>
                </a:solidFill>
                <a:latin typeface="HK Grotesk" pitchFamily="2" charset="77"/>
              </a:rPr>
              <a:t>Manvitha</a:t>
            </a: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 58679</a:t>
            </a:r>
          </a:p>
          <a:p>
            <a:pPr algn="just"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       </a:t>
            </a:r>
          </a:p>
        </p:txBody>
      </p:sp>
      <p:sp>
        <p:nvSpPr>
          <p:cNvPr id="3" name="TextBox 7">
            <a:extLst>
              <a:ext uri="{FF2B5EF4-FFF2-40B4-BE49-F238E27FC236}">
                <a16:creationId xmlns:a16="http://schemas.microsoft.com/office/drawing/2014/main" id="{21F87AA7-2FEF-9248-CC8B-6951622F8F14}"/>
              </a:ext>
            </a:extLst>
          </p:cNvPr>
          <p:cNvSpPr txBox="1"/>
          <p:nvPr/>
        </p:nvSpPr>
        <p:spPr>
          <a:xfrm>
            <a:off x="366227" y="4136906"/>
            <a:ext cx="9932805" cy="2928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Project Title Here – Online Book Store (Catalog Management System)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7AE17-255B-EFAF-AB19-35D5726D4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FE3526C0-0D62-E999-846D-539DB0F96A06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CE32E4E7-27A9-CE4B-8AB0-AA5E86AA8E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3222EB71-F821-F852-BAE8-F9C461EA6C98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6264C8-542D-6BAC-F31C-291E314EA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2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834CDC-2435-88E7-E908-66FF8BBA8773}"/>
              </a:ext>
            </a:extLst>
          </p:cNvPr>
          <p:cNvSpPr txBox="1"/>
          <p:nvPr/>
        </p:nvSpPr>
        <p:spPr>
          <a:xfrm>
            <a:off x="273074" y="1354574"/>
            <a:ext cx="11080725" cy="39087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Introduction :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The Online Book Store (Catalog Management System)is a web-based application developed to manage and display book information in an efficient and organized manner..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It replaces manual or spreadsheet-based book tracking with a centralized digital platform, enabling administrators to manage book details and users to easily browse and search available books.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The system is developed using Angular for the frontend and Spring Boot for the backend with REST APIs.</a:t>
            </a:r>
          </a:p>
        </p:txBody>
      </p:sp>
    </p:spTree>
    <p:extLst>
      <p:ext uri="{BB962C8B-B14F-4D97-AF65-F5344CB8AC3E}">
        <p14:creationId xmlns:p14="http://schemas.microsoft.com/office/powerpoint/2010/main" val="4051022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D3032-B556-A91A-981E-8250A33CE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862E1825-6333-41D5-E771-CF08492BD77E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8D7400C0-485A-874F-6D5D-115D01E828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F34A314C-6C61-4D84-1B85-2D54121D8D92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47CB2D-20DA-B466-107D-17102AE1F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3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B992C1-F4CE-9AC8-B9C3-CA40A6B2E3A6}"/>
              </a:ext>
            </a:extLst>
          </p:cNvPr>
          <p:cNvSpPr txBox="1"/>
          <p:nvPr/>
        </p:nvSpPr>
        <p:spPr>
          <a:xfrm>
            <a:off x="273074" y="1354574"/>
            <a:ext cx="11080725" cy="4001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Problem Statement 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In many bookstores and libraries, book information is maintained manually or in basic systems, which leads to: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Difficulty in managing large volumes of book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Slow and inefficient search process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Errors while updating book details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Lack of centralized and secure access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dirty="0">
                <a:solidFill>
                  <a:srgbClr val="0187CC"/>
                </a:solidFill>
                <a:latin typeface="HK Grotesk"/>
              </a:rPr>
              <a:t>Poor user experience</a:t>
            </a:r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There is a need for a structured and centralized catalog management system to efficiently manage and display book information.</a:t>
            </a:r>
          </a:p>
        </p:txBody>
      </p:sp>
    </p:spTree>
    <p:extLst>
      <p:ext uri="{BB962C8B-B14F-4D97-AF65-F5344CB8AC3E}">
        <p14:creationId xmlns:p14="http://schemas.microsoft.com/office/powerpoint/2010/main" val="42142483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BEB73-466C-0D03-3CC4-644E6AC1F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DCF2EE09-856A-C061-DE90-4CA50D407FAC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6A82B561-06E1-43F3-D7E6-06784041A2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555E6433-F75B-30FC-924C-40851BFBD088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132FA7-E604-83BC-6BA4-AA2E14FF1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4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56EEE1-E46D-B711-3451-D61CCEA2433F}"/>
              </a:ext>
            </a:extLst>
          </p:cNvPr>
          <p:cNvSpPr txBox="1"/>
          <p:nvPr/>
        </p:nvSpPr>
        <p:spPr>
          <a:xfrm>
            <a:off x="273074" y="1354574"/>
            <a:ext cx="1108072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Objectives: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sz="2400" dirty="0">
                <a:solidFill>
                  <a:srgbClr val="0187CC"/>
                </a:solidFill>
              </a:rPr>
              <a:t>The key objectives of the Online Book Store Catalog Management System are:</a:t>
            </a:r>
            <a:r>
              <a:rPr lang="en-US" sz="2200" dirty="0">
                <a:solidFill>
                  <a:srgbClr val="0187CC"/>
                </a:solidFill>
                <a:latin typeface="HK Grotesk"/>
              </a:rPr>
              <a:t>: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187CC"/>
                </a:solidFill>
              </a:rPr>
              <a:t>To maintain an organized book catalog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187CC"/>
                </a:solidFill>
              </a:rPr>
              <a:t>To enable fast searching of books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187CC"/>
                </a:solidFill>
              </a:rPr>
              <a:t>To allow administrators to update and manage book information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187CC"/>
                </a:solidFill>
              </a:rPr>
              <a:t>To provide a user-friendly and responsive interface</a:t>
            </a:r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</p:spTree>
    <p:extLst>
      <p:ext uri="{BB962C8B-B14F-4D97-AF65-F5344CB8AC3E}">
        <p14:creationId xmlns:p14="http://schemas.microsoft.com/office/powerpoint/2010/main" val="23584345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BAA7F-E173-669B-1B0C-F636A8E01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F346FCAD-33FF-4924-74CE-0C74F391DDC9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3C1B8075-AFE0-BCA2-8C45-33660646F9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790169E1-533F-8E81-8199-8D7ADDBB08DC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2425B0-9D6D-8BAB-21F9-D2B1C7459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5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3B3C11-CBFB-623A-828B-B87BD2B672C2}"/>
              </a:ext>
            </a:extLst>
          </p:cNvPr>
          <p:cNvSpPr txBox="1"/>
          <p:nvPr/>
        </p:nvSpPr>
        <p:spPr>
          <a:xfrm>
            <a:off x="273074" y="1354574"/>
            <a:ext cx="11080725" cy="44935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Core Functionalities: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The system provides the following core functionalities: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dirty="0">
                <a:solidFill>
                  <a:srgbClr val="0187CC"/>
                </a:solidFill>
                <a:latin typeface="HK Grotesk"/>
              </a:rPr>
              <a:t>User registration and login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Add, update and delete book records by Admin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Search books by title or author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View book price and stock status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dirty="0">
                <a:solidFill>
                  <a:srgbClr val="0187CC"/>
                </a:solidFill>
                <a:latin typeface="HK Grotesk"/>
              </a:rPr>
              <a:t>Input validation and proper error handling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All operations are performed using RESTful APIs, ensuring loose coupling between frontend and backend.</a:t>
            </a:r>
          </a:p>
        </p:txBody>
      </p:sp>
    </p:spTree>
    <p:extLst>
      <p:ext uri="{BB962C8B-B14F-4D97-AF65-F5344CB8AC3E}">
        <p14:creationId xmlns:p14="http://schemas.microsoft.com/office/powerpoint/2010/main" val="12856672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CD5A3-6818-183B-2089-8F4057B79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86C85CE4-B3F5-9AE1-7705-F1610DE645F7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76EC1D6E-C60D-2D2C-7489-A69FFA3304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EFDFC1CD-B055-B171-9A0E-C8CFDBEC0F48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D056FD-2A83-4DFC-3474-0E0703AA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6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3301B7-1D76-79F2-6395-99A9D3BDE511}"/>
              </a:ext>
            </a:extLst>
          </p:cNvPr>
          <p:cNvSpPr txBox="1"/>
          <p:nvPr/>
        </p:nvSpPr>
        <p:spPr>
          <a:xfrm>
            <a:off x="273074" y="1354574"/>
            <a:ext cx="11080725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Key Features: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Role-based access for Admin and User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Fast and accurate book search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Secure data handling using backend validation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Real-time updates to book catalog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dirty="0">
                <a:solidFill>
                  <a:srgbClr val="0187CC"/>
                </a:solidFill>
                <a:latin typeface="HK Grotesk"/>
              </a:rPr>
              <a:t>User-friendly </a:t>
            </a:r>
            <a:r>
              <a:rPr lang="en-IN" sz="2200" dirty="0">
                <a:solidFill>
                  <a:schemeClr val="tx2">
                    <a:lumMod val="50000"/>
                    <a:lumOff val="50000"/>
                  </a:schemeClr>
                </a:solidFill>
                <a:latin typeface="HK Grotesk"/>
              </a:rPr>
              <a:t>interface using Angular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tx2">
                    <a:lumMod val="50000"/>
                    <a:lumOff val="50000"/>
                  </a:schemeClr>
                </a:solidFill>
                <a:latin typeface="HK Grotesk"/>
              </a:rPr>
              <a:t>Stock availability indicator for each book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tx2">
                    <a:lumMod val="50000"/>
                    <a:lumOff val="50000"/>
                  </a:schemeClr>
                </a:solidFill>
                <a:latin typeface="HK Grotesk"/>
              </a:rPr>
              <a:t>Scalable architecture for future modules like orders and payments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tx2">
                    <a:lumMod val="50000"/>
                    <a:lumOff val="50000"/>
                  </a:schemeClr>
                </a:solidFill>
                <a:latin typeface="HK Grotesk"/>
              </a:rPr>
              <a:t>Clean separation of layers (Controller, Service, Repository)</a:t>
            </a:r>
            <a:endParaRPr lang="en-IN" sz="2200" dirty="0">
              <a:solidFill>
                <a:schemeClr val="tx2">
                  <a:lumMod val="50000"/>
                  <a:lumOff val="50000"/>
                </a:schemeClr>
              </a:solidFill>
              <a:latin typeface="HK Grotesk"/>
            </a:endParaRPr>
          </a:p>
        </p:txBody>
      </p:sp>
    </p:spTree>
    <p:extLst>
      <p:ext uri="{BB962C8B-B14F-4D97-AF65-F5344CB8AC3E}">
        <p14:creationId xmlns:p14="http://schemas.microsoft.com/office/powerpoint/2010/main" val="41362342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1409B-E357-D8E7-041A-93EA5E76D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94EBEF1C-BC52-3A23-1FC0-3A96C9458CAC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D1020D05-0C19-8225-3590-4CE5E32D0E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2AB15DF5-9C21-2121-A6AC-3C66A205D465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DFE191-6A71-466C-E4CA-411704FAB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7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BEB9DB-0A13-2385-7C75-187943915796}"/>
              </a:ext>
            </a:extLst>
          </p:cNvPr>
          <p:cNvSpPr txBox="1"/>
          <p:nvPr/>
        </p:nvSpPr>
        <p:spPr>
          <a:xfrm>
            <a:off x="273075" y="971116"/>
            <a:ext cx="11080725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RESTful API-Based Architecture: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The project follows a RESTful API architecture, where: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POST → Add  new book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GET → View books(s)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PUT → Update book details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DELETE → Remove book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APIs return JSON responses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Stateless communication is maintained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Clear separation between frontend and backend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This architecture improves scalability, maintainability  of the application.</a:t>
            </a:r>
          </a:p>
        </p:txBody>
      </p:sp>
    </p:spTree>
    <p:extLst>
      <p:ext uri="{BB962C8B-B14F-4D97-AF65-F5344CB8AC3E}">
        <p14:creationId xmlns:p14="http://schemas.microsoft.com/office/powerpoint/2010/main" val="14923786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776DE-CB1D-471D-7636-A08116EF5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A93747DE-CC26-2DC4-057D-78171454B9C3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DACCAF1A-446D-56BD-D5BA-50A5B5DC4B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BA1D7C51-C6BA-A8FB-40A6-99483D811B96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5D762D-29A7-9B88-E096-3A314365B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8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669AB0-01B7-BCB2-BE1C-6077C34B14D3}"/>
              </a:ext>
            </a:extLst>
          </p:cNvPr>
          <p:cNvSpPr txBox="1"/>
          <p:nvPr/>
        </p:nvSpPr>
        <p:spPr>
          <a:xfrm>
            <a:off x="273075" y="971116"/>
            <a:ext cx="11080725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Technology Stack: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1.</a:t>
            </a:r>
            <a:r>
              <a:rPr lang="en-US" sz="2200" u="sng" dirty="0">
                <a:solidFill>
                  <a:srgbClr val="0187CC"/>
                </a:solidFill>
                <a:latin typeface="HK Grotesk"/>
              </a:rPr>
              <a:t>Frontend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Angular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2.</a:t>
            </a:r>
            <a:r>
              <a:rPr lang="en-US" sz="2200" u="sng" dirty="0">
                <a:solidFill>
                  <a:srgbClr val="0187CC"/>
                </a:solidFill>
                <a:latin typeface="HK Grotesk"/>
              </a:rPr>
              <a:t>Backend  </a:t>
            </a:r>
            <a:r>
              <a:rPr lang="en-US" sz="2200" dirty="0">
                <a:solidFill>
                  <a:srgbClr val="0187CC"/>
                </a:solidFill>
                <a:latin typeface="HK Grotesk"/>
              </a:rPr>
              <a:t>                                                                               4. </a:t>
            </a:r>
            <a:r>
              <a:rPr lang="en-US" sz="2200" u="sng" dirty="0">
                <a:solidFill>
                  <a:srgbClr val="0187CC"/>
                </a:solidFill>
                <a:latin typeface="HK Grotesk"/>
              </a:rPr>
              <a:t>DevOps &amp; Deployment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Spring Boot                                                                          - Docker (Containerization)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Spring Data JPA                                                                   - Microsoft Azure App Service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REST APIs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3.</a:t>
            </a:r>
            <a:r>
              <a:rPr lang="en-US" sz="2200" u="sng" dirty="0">
                <a:solidFill>
                  <a:srgbClr val="0187CC"/>
                </a:solidFill>
                <a:latin typeface="HK Grotesk"/>
              </a:rPr>
              <a:t>Database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MYSQL / PostgreSQL</a:t>
            </a:r>
          </a:p>
        </p:txBody>
      </p:sp>
    </p:spTree>
    <p:extLst>
      <p:ext uri="{BB962C8B-B14F-4D97-AF65-F5344CB8AC3E}">
        <p14:creationId xmlns:p14="http://schemas.microsoft.com/office/powerpoint/2010/main" val="10011919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59DC2-CEB1-4C9E-E6BD-E2EB04BDB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D792C2B5-0E1E-395F-4878-1FFD5B3F8BA3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E28A7DE0-EE2B-EE6C-AB9B-E7957A1AD1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BAC7DAD6-6BD0-3C2F-DE03-F23A448BAE95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384713-09BB-6412-BA30-85445FC37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9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BA4F68-A995-6CA7-7245-10CA9773B873}"/>
              </a:ext>
            </a:extLst>
          </p:cNvPr>
          <p:cNvSpPr txBox="1"/>
          <p:nvPr/>
        </p:nvSpPr>
        <p:spPr>
          <a:xfrm>
            <a:off x="273075" y="971116"/>
            <a:ext cx="11080725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System Roles: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Admin: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Add, edit and  delete books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Manage complete book catalog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User: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view available books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Search books by title or author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Role –based dashboards are provided for both Admin and User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</p:spTree>
    <p:extLst>
      <p:ext uri="{BB962C8B-B14F-4D97-AF65-F5344CB8AC3E}">
        <p14:creationId xmlns:p14="http://schemas.microsoft.com/office/powerpoint/2010/main" val="40897777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64F4D-0666-C176-77D8-7F9EA410D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7AFA3F4A-4940-8883-C3DE-E962C7607143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F535D18E-0571-6D6F-AD92-6DA0140123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8BD49C45-B6C3-570B-505A-D514AD678A16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762D2D-C9FE-2F56-10BE-22D5A19D1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10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5AC121-0906-10C3-B7B9-9E98193802F5}"/>
              </a:ext>
            </a:extLst>
          </p:cNvPr>
          <p:cNvSpPr txBox="1"/>
          <p:nvPr/>
        </p:nvSpPr>
        <p:spPr>
          <a:xfrm>
            <a:off x="273075" y="971116"/>
            <a:ext cx="11080725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Application Workflow: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User opens the application: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dirty="0">
                <a:solidFill>
                  <a:srgbClr val="0187CC"/>
                </a:solidFill>
                <a:latin typeface="HK Grotesk"/>
              </a:rPr>
              <a:t>User opens the application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User registers or logs 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User or Admin accesses their dashboard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User searches and views books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Admin adds, edits or deletes book records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dirty="0">
                <a:solidFill>
                  <a:srgbClr val="0187CC"/>
                </a:solidFill>
                <a:latin typeface="HK Grotesk"/>
              </a:rPr>
              <a:t>Frontend performs validation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Data is sent to backend REST APIs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Backend processes and stores data in the database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Book list is refreshed automatically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1D63339F-F47B-D71A-E56E-509B3FE447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User searches and views books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99868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07200-BC01-1039-9FB5-FFB92C6BD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7E5A152F-FB38-EC39-419D-4D654D47EF80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59CB2A5F-E417-87FB-D5E6-E220EEB744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B2BF1671-0C5B-718A-AF4A-6E1B855BC469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552455-28C4-852F-E7C1-75813EB52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11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1CC3A1-1F98-6AE5-CC88-A4171EBDC2C6}"/>
              </a:ext>
            </a:extLst>
          </p:cNvPr>
          <p:cNvSpPr txBox="1"/>
          <p:nvPr/>
        </p:nvSpPr>
        <p:spPr>
          <a:xfrm>
            <a:off x="273075" y="971116"/>
            <a:ext cx="11080725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DevOps &amp; Deployment: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Docker: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Containerizes frontend and backend applications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Ensures consistent environment across development and production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Simplifies deployment process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Azure: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Hosts backend Spring Boot APIs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Hosts Angular frontend application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Supports scalability and cloud deployment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Enables easy application management.</a:t>
            </a:r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</p:spTree>
    <p:extLst>
      <p:ext uri="{BB962C8B-B14F-4D97-AF65-F5344CB8AC3E}">
        <p14:creationId xmlns:p14="http://schemas.microsoft.com/office/powerpoint/2010/main" val="14978448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15BAF85C-4E87-0ECE-64EC-83552A353E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D594934-2D96-6FD7-90FB-E171FB6DF896}"/>
              </a:ext>
            </a:extLst>
          </p:cNvPr>
          <p:cNvSpPr txBox="1"/>
          <p:nvPr/>
        </p:nvSpPr>
        <p:spPr>
          <a:xfrm>
            <a:off x="108630" y="385011"/>
            <a:ext cx="903537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4D5CDA-06E7-5599-CC4C-C6813C36AF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931" y="1152939"/>
            <a:ext cx="11092071" cy="5041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34916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1A478CA4-1B7D-FEDC-59DD-B3CE3C7C76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3F7182-4E4A-2C8E-92F3-C94449761694}"/>
              </a:ext>
            </a:extLst>
          </p:cNvPr>
          <p:cNvSpPr txBox="1"/>
          <p:nvPr/>
        </p:nvSpPr>
        <p:spPr>
          <a:xfrm>
            <a:off x="108630" y="240632"/>
            <a:ext cx="1147377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6DCD44-587A-D0F8-4BE2-4347CD0C98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153" y="906448"/>
            <a:ext cx="10662700" cy="5383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8067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ABF1996B-1933-3BF7-20EA-04267A3CAB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424E53A-5B09-171A-3FF2-38ECE068040C}"/>
              </a:ext>
            </a:extLst>
          </p:cNvPr>
          <p:cNvSpPr txBox="1"/>
          <p:nvPr/>
        </p:nvSpPr>
        <p:spPr>
          <a:xfrm>
            <a:off x="368968" y="214026"/>
            <a:ext cx="9144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BCBDF1-0B40-B33F-E084-3D8452ADFE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96" y="938255"/>
            <a:ext cx="10274063" cy="5096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120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E59EA-CCB2-D10E-E3C4-5EE6218B4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4B0D9338-E563-D734-BA68-10F7DE741392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34364A16-3039-8C5C-BBAC-FB980655C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C866D4EC-E46B-1D60-D149-78181F987FA0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F43DA5-EBD8-2106-7F2E-6A439190F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15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752309-D18E-8E9F-6617-6D6071E9FCAE}"/>
              </a:ext>
            </a:extLst>
          </p:cNvPr>
          <p:cNvSpPr txBox="1"/>
          <p:nvPr/>
        </p:nvSpPr>
        <p:spPr>
          <a:xfrm>
            <a:off x="273075" y="971116"/>
            <a:ext cx="11080725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Login Page: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dirty="0">
                <a:solidFill>
                  <a:srgbClr val="0187CC"/>
                </a:solidFill>
                <a:latin typeface="HK Grotesk"/>
              </a:rPr>
              <a:t>    Allows users and admins to log in using email and password. </a:t>
            </a:r>
          </a:p>
          <a:p>
            <a:r>
              <a:rPr lang="en-US" dirty="0">
                <a:solidFill>
                  <a:srgbClr val="0187CC"/>
                </a:solidFill>
                <a:latin typeface="HK Grotesk"/>
              </a:rPr>
              <a:t>    Validates credentials using backend REST APIs</a:t>
            </a:r>
            <a:endParaRPr lang="en-IN" dirty="0">
              <a:solidFill>
                <a:srgbClr val="0187CC"/>
              </a:solidFill>
              <a:latin typeface="HK Grotesk"/>
            </a:endParaRP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5" name="Image 6">
            <a:extLst>
              <a:ext uri="{FF2B5EF4-FFF2-40B4-BE49-F238E27FC236}">
                <a16:creationId xmlns:a16="http://schemas.microsoft.com/office/drawing/2014/main" id="{D025AA06-CA36-5429-D96F-F44BC947FDA1}"/>
              </a:ext>
            </a:extLst>
          </p:cNvPr>
          <p:cNvPicPr>
            <a:picLocks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538605" y="2490201"/>
            <a:ext cx="7071995" cy="3866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78074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D32BA-5E2E-3134-5204-334F9EDF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C394D6EA-9B37-1A44-08DE-3E6E3B35A628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0FA951A9-9704-8305-6918-DDE4A762E7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EE46AD82-A14A-B0F5-B12B-5DCA1F54F0FA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B03594-00EF-A49B-3AB7-F9B16D50F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16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3EFA11-6653-32F2-B5D2-E21BF32AF6AA}"/>
              </a:ext>
            </a:extLst>
          </p:cNvPr>
          <p:cNvSpPr txBox="1"/>
          <p:nvPr/>
        </p:nvSpPr>
        <p:spPr>
          <a:xfrm>
            <a:off x="273075" y="971116"/>
            <a:ext cx="1108072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Registration Success Message: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dirty="0">
                <a:solidFill>
                  <a:srgbClr val="0187CC"/>
                </a:solidFill>
              </a:rPr>
              <a:t>Shows confirmation after successful registration. Improves user feedback and usability</a:t>
            </a:r>
            <a:endParaRPr lang="en-IN" dirty="0">
              <a:solidFill>
                <a:srgbClr val="0187CC"/>
              </a:solidFill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9" name="Image 7">
            <a:extLst>
              <a:ext uri="{FF2B5EF4-FFF2-40B4-BE49-F238E27FC236}">
                <a16:creationId xmlns:a16="http://schemas.microsoft.com/office/drawing/2014/main" id="{B169E44E-C86B-8BC1-41C5-7AF25E2B205D}"/>
              </a:ext>
            </a:extLst>
          </p:cNvPr>
          <p:cNvPicPr>
            <a:picLocks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788359" y="2464234"/>
            <a:ext cx="7071995" cy="342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0520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DD326-8AFA-4384-1ACB-72FF5B02F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0CE1C5F0-F5A6-5F5E-AC98-006B580BA4D9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7B3B721F-3472-7EEE-4D38-0799BE9F16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EBE1FAC8-6868-1832-4B30-932746B81015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930655-2849-72CA-19D4-59FE0D536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17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FFF9F4-3495-D8EF-06EF-7EB6E4D0158C}"/>
              </a:ext>
            </a:extLst>
          </p:cNvPr>
          <p:cNvSpPr txBox="1"/>
          <p:nvPr/>
        </p:nvSpPr>
        <p:spPr>
          <a:xfrm>
            <a:off x="108630" y="820647"/>
            <a:ext cx="1108072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Invalid Login Message: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dirty="0">
                <a:solidFill>
                  <a:srgbClr val="0187CC"/>
                </a:solidFill>
              </a:rPr>
              <a:t>Displays error message for wrong credentials. Handled using proper validation and error</a:t>
            </a:r>
            <a:endParaRPr lang="en-IN" dirty="0">
              <a:solidFill>
                <a:srgbClr val="0187CC"/>
              </a:solidFill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5" name="Image 8">
            <a:extLst>
              <a:ext uri="{FF2B5EF4-FFF2-40B4-BE49-F238E27FC236}">
                <a16:creationId xmlns:a16="http://schemas.microsoft.com/office/drawing/2014/main" id="{64A6B75D-0350-3963-6846-16A17C778F63}"/>
              </a:ext>
            </a:extLst>
          </p:cNvPr>
          <p:cNvPicPr>
            <a:picLocks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538605" y="2507036"/>
            <a:ext cx="7071995" cy="341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584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46E46-57A6-6389-5399-43719D681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F9D72E01-0CB1-B88D-46E0-3C908C7712C4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0AA29F7C-04ED-4928-8EB4-7385BA93F1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FC5995BD-5E21-78EC-F01B-3513F52ABB86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F5A50-EE1B-089A-B26E-BE441A7CD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18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4EC1BA-199F-3057-3CC8-15716CE96B3A}"/>
              </a:ext>
            </a:extLst>
          </p:cNvPr>
          <p:cNvSpPr txBox="1"/>
          <p:nvPr/>
        </p:nvSpPr>
        <p:spPr>
          <a:xfrm>
            <a:off x="273075" y="971116"/>
            <a:ext cx="1108072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User dashboard 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dirty="0">
                <a:solidFill>
                  <a:srgbClr val="0187CC"/>
                </a:solidFill>
              </a:rPr>
              <a:t>Users can view available books with price and stock. Users can search books by title or author</a:t>
            </a:r>
            <a:endParaRPr lang="en-IN" dirty="0">
              <a:solidFill>
                <a:srgbClr val="0187CC"/>
              </a:solidFill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7" name="Image 9">
            <a:extLst>
              <a:ext uri="{FF2B5EF4-FFF2-40B4-BE49-F238E27FC236}">
                <a16:creationId xmlns:a16="http://schemas.microsoft.com/office/drawing/2014/main" id="{FC8E6281-E609-D4CA-CE75-1999402BE7C2}"/>
              </a:ext>
            </a:extLst>
          </p:cNvPr>
          <p:cNvPicPr>
            <a:picLocks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793122" y="2406349"/>
            <a:ext cx="7062470" cy="3328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370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9C92F-7274-A112-C2FC-516AE0AC2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AB1068E4-D546-D82B-B4D1-FD45608AD0AB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CC4BFD97-A8F3-2524-C7F7-E4BFE44C4E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54FB2DDD-0ED7-F620-2BF7-6454D1A6D441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DCB97A-55B1-4CDA-C4FD-84A87A992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19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CE309E-27C6-CC3D-80F4-74B3B2973FB9}"/>
              </a:ext>
            </a:extLst>
          </p:cNvPr>
          <p:cNvSpPr txBox="1"/>
          <p:nvPr/>
        </p:nvSpPr>
        <p:spPr>
          <a:xfrm>
            <a:off x="273075" y="1019243"/>
            <a:ext cx="1108072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Admin dashboard 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IN" dirty="0">
              <a:solidFill>
                <a:srgbClr val="0187CC"/>
              </a:solidFill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5" name="Image 10">
            <a:extLst>
              <a:ext uri="{FF2B5EF4-FFF2-40B4-BE49-F238E27FC236}">
                <a16:creationId xmlns:a16="http://schemas.microsoft.com/office/drawing/2014/main" id="{55C45D41-76F4-FEF9-C0B4-85B0BC4FCBD8}"/>
              </a:ext>
            </a:extLst>
          </p:cNvPr>
          <p:cNvPicPr>
            <a:picLocks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556084" y="1745933"/>
            <a:ext cx="8071151" cy="4092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6645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3E72F-BF5B-EA35-CDBC-6A593ACB7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E84C70AC-8DAA-5E0E-01B0-CAF0880B023D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2C0B048D-AACC-9A86-A0CB-88E0320E94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8B78F23A-BDCD-4927-BA07-A09CC45F7C2E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0D43AC-5304-8111-E5AB-C79DA5ACA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20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762297-33D2-AFC0-CC19-E38BF14C9637}"/>
              </a:ext>
            </a:extLst>
          </p:cNvPr>
          <p:cNvSpPr txBox="1"/>
          <p:nvPr/>
        </p:nvSpPr>
        <p:spPr>
          <a:xfrm>
            <a:off x="185976" y="703918"/>
            <a:ext cx="1108072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Admin –Add New Book: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dirty="0">
                <a:solidFill>
                  <a:srgbClr val="0187CC"/>
                </a:solidFill>
              </a:rPr>
              <a:t>  Admin can view the complete book list</a:t>
            </a:r>
            <a:endParaRPr lang="en-IN" dirty="0">
              <a:solidFill>
                <a:srgbClr val="0187CC"/>
              </a:solidFill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5" name="Image 12">
            <a:extLst>
              <a:ext uri="{FF2B5EF4-FFF2-40B4-BE49-F238E27FC236}">
                <a16:creationId xmlns:a16="http://schemas.microsoft.com/office/drawing/2014/main" id="{EF72AA42-E945-7644-05B1-7B5AB7341C49}"/>
              </a:ext>
            </a:extLst>
          </p:cNvPr>
          <p:cNvPicPr>
            <a:picLocks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395657" y="2273578"/>
            <a:ext cx="7071995" cy="342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3522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F9F00CD0-3B39-8E5A-267C-EC92A160CA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74B3CAB-7016-3E85-154E-A8B0B98441ED}"/>
              </a:ext>
            </a:extLst>
          </p:cNvPr>
          <p:cNvSpPr txBox="1"/>
          <p:nvPr/>
        </p:nvSpPr>
        <p:spPr>
          <a:xfrm>
            <a:off x="108630" y="288758"/>
            <a:ext cx="86627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B1FE1E-0FA2-9DE5-71F1-40EAE98EEC29}"/>
              </a:ext>
            </a:extLst>
          </p:cNvPr>
          <p:cNvSpPr txBox="1"/>
          <p:nvPr/>
        </p:nvSpPr>
        <p:spPr>
          <a:xfrm>
            <a:off x="253009" y="1315452"/>
            <a:ext cx="9023338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dirty="0">
                <a:solidFill>
                  <a:srgbClr val="0187CC"/>
                </a:solidFill>
              </a:rPr>
              <a:t>Admin – Edit Book :</a:t>
            </a:r>
          </a:p>
          <a:p>
            <a:endParaRPr lang="en-IN" sz="2800" dirty="0">
              <a:solidFill>
                <a:srgbClr val="0187CC"/>
              </a:solidFill>
            </a:endParaRPr>
          </a:p>
          <a:p>
            <a:r>
              <a:rPr lang="en-US" dirty="0">
                <a:solidFill>
                  <a:srgbClr val="0187CC"/>
                </a:solidFill>
              </a:rPr>
              <a:t>Admin can update book title, author, price and stock. Changes are updated in the database using REST APIs.</a:t>
            </a:r>
            <a:endParaRPr lang="en-IN" dirty="0">
              <a:solidFill>
                <a:srgbClr val="0187CC"/>
              </a:solidFill>
            </a:endParaRPr>
          </a:p>
          <a:p>
            <a:endParaRPr lang="en-IN" dirty="0"/>
          </a:p>
        </p:txBody>
      </p:sp>
      <p:pic>
        <p:nvPicPr>
          <p:cNvPr id="5" name="Image 11">
            <a:extLst>
              <a:ext uri="{FF2B5EF4-FFF2-40B4-BE49-F238E27FC236}">
                <a16:creationId xmlns:a16="http://schemas.microsoft.com/office/drawing/2014/main" id="{581BE452-EA7E-57EB-256E-D108F0A2C10A}"/>
              </a:ext>
            </a:extLst>
          </p:cNvPr>
          <p:cNvPicPr>
            <a:picLocks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699372" y="2843572"/>
            <a:ext cx="7071995" cy="341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4885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2D686063-1263-FFD6-7EB2-04FDC294CD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E6CF3CA-6725-C28C-7B13-1EE01AA6C11E}"/>
              </a:ext>
            </a:extLst>
          </p:cNvPr>
          <p:cNvSpPr txBox="1"/>
          <p:nvPr/>
        </p:nvSpPr>
        <p:spPr>
          <a:xfrm>
            <a:off x="0" y="208548"/>
            <a:ext cx="1156635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F5AF0F-A076-CA93-EE54-32FB27A0097C}"/>
              </a:ext>
            </a:extLst>
          </p:cNvPr>
          <p:cNvSpPr txBox="1"/>
          <p:nvPr/>
        </p:nvSpPr>
        <p:spPr>
          <a:xfrm>
            <a:off x="108630" y="914400"/>
            <a:ext cx="8995264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187CC"/>
                </a:solidFill>
              </a:rPr>
              <a:t>Admin – Search and Delete Book: </a:t>
            </a:r>
          </a:p>
          <a:p>
            <a:endParaRPr lang="en-US" sz="2800" dirty="0">
              <a:solidFill>
                <a:srgbClr val="0187CC"/>
              </a:solidFill>
            </a:endParaRPr>
          </a:p>
          <a:p>
            <a:r>
              <a:rPr lang="en-US" dirty="0">
                <a:solidFill>
                  <a:srgbClr val="0187CC"/>
                </a:solidFill>
              </a:rPr>
              <a:t>Admin can search books by title or author.</a:t>
            </a:r>
            <a:endParaRPr lang="en-IN" dirty="0">
              <a:solidFill>
                <a:srgbClr val="0187CC"/>
              </a:solidFill>
            </a:endParaRPr>
          </a:p>
          <a:p>
            <a:r>
              <a:rPr lang="en-US" dirty="0">
                <a:solidFill>
                  <a:srgbClr val="0187CC"/>
                </a:solidFill>
              </a:rPr>
              <a:t>Admin can delete a book with confirmation dialog.</a:t>
            </a:r>
            <a:endParaRPr lang="en-IN" dirty="0">
              <a:solidFill>
                <a:srgbClr val="0187CC"/>
              </a:solidFill>
            </a:endParaRPr>
          </a:p>
          <a:p>
            <a:endParaRPr lang="en-IN" dirty="0"/>
          </a:p>
        </p:txBody>
      </p:sp>
      <p:pic>
        <p:nvPicPr>
          <p:cNvPr id="7" name="Image 13">
            <a:extLst>
              <a:ext uri="{FF2B5EF4-FFF2-40B4-BE49-F238E27FC236}">
                <a16:creationId xmlns:a16="http://schemas.microsoft.com/office/drawing/2014/main" id="{1694E469-67C6-965D-AFC5-B1BFBCCF0FAE}"/>
              </a:ext>
            </a:extLst>
          </p:cNvPr>
          <p:cNvPicPr>
            <a:picLocks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648710" y="2614930"/>
            <a:ext cx="7052945" cy="3328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4797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DDBA2-BA5B-4EF9-84D8-F3C838EC3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A5D7C86B-736F-9385-393D-DE6D541195B8}"/>
              </a:ext>
            </a:extLst>
          </p:cNvPr>
          <p:cNvSpPr/>
          <p:nvPr/>
        </p:nvSpPr>
        <p:spPr>
          <a:xfrm>
            <a:off x="273075" y="211475"/>
            <a:ext cx="10102565" cy="9848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  <a:p>
            <a:pPr>
              <a:spcBef>
                <a:spcPct val="0"/>
              </a:spcBef>
            </a:pPr>
            <a:r>
              <a:rPr lang="en-US" sz="2200" dirty="0">
                <a:solidFill>
                  <a:srgbClr val="0187CC"/>
                </a:solidFill>
                <a:latin typeface="HK Grotesk Bold"/>
              </a:rPr>
              <a:t>Database Service on Azure</a:t>
            </a:r>
            <a:r>
              <a:rPr lang="en-US" sz="3200" dirty="0">
                <a:solidFill>
                  <a:srgbClr val="0187CC"/>
                </a:solidFill>
                <a:latin typeface="HK Grotesk Bold"/>
              </a:rPr>
              <a:t>: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68BAA935-74B3-FAA2-25C2-04E1EC7845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582904E0-2A94-8BD3-38CA-4D3D525E96E8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26CCB6-73B7-5C9A-D4C3-6F405E194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23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576A51-0A73-1DC2-01B6-A625E28AAA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96" y="1423282"/>
            <a:ext cx="10417187" cy="4397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5412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BB582-D227-B245-7EB9-97893A65C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C80D046B-FC83-2644-7A88-C6DAD71596AD}"/>
              </a:ext>
            </a:extLst>
          </p:cNvPr>
          <p:cNvSpPr/>
          <p:nvPr/>
        </p:nvSpPr>
        <p:spPr>
          <a:xfrm>
            <a:off x="273075" y="211475"/>
            <a:ext cx="10102565" cy="9848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  <a:p>
            <a:pPr>
              <a:spcBef>
                <a:spcPct val="0"/>
              </a:spcBef>
            </a:pPr>
            <a:r>
              <a:rPr lang="en-US" sz="2200" dirty="0">
                <a:solidFill>
                  <a:srgbClr val="0187CC"/>
                </a:solidFill>
                <a:latin typeface="HK Grotesk Bold"/>
              </a:rPr>
              <a:t>Backend on Azure</a:t>
            </a:r>
            <a:r>
              <a:rPr lang="en-US" sz="3200" dirty="0">
                <a:solidFill>
                  <a:srgbClr val="0187CC"/>
                </a:solidFill>
                <a:latin typeface="HK Grotesk Bold"/>
              </a:rPr>
              <a:t>: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A6C6B919-EF7A-3958-6862-CA74E5C213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948DB52E-81E5-C989-6C4B-9E58FA436236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E57327-8E6C-03BB-6848-D38E36C64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24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2230D58-AEAA-4D77-B211-729F14500F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12" y="1494844"/>
            <a:ext cx="9939131" cy="4524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3303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F2F79-45F9-9C54-8063-B1DF9BB5F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93C5EEAE-4691-207A-8E42-9DE60B22E807}"/>
              </a:ext>
            </a:extLst>
          </p:cNvPr>
          <p:cNvSpPr/>
          <p:nvPr/>
        </p:nvSpPr>
        <p:spPr>
          <a:xfrm>
            <a:off x="273075" y="211475"/>
            <a:ext cx="10102565" cy="9848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  <a:p>
            <a:pPr>
              <a:spcBef>
                <a:spcPct val="0"/>
              </a:spcBef>
            </a:pPr>
            <a:r>
              <a:rPr lang="en-US" sz="2200" dirty="0">
                <a:solidFill>
                  <a:srgbClr val="0187CC"/>
                </a:solidFill>
                <a:latin typeface="HK Grotesk Bold"/>
              </a:rPr>
              <a:t> Backend on Azure</a:t>
            </a:r>
            <a:r>
              <a:rPr lang="en-US" sz="3200" dirty="0">
                <a:solidFill>
                  <a:srgbClr val="0187CC"/>
                </a:solidFill>
                <a:latin typeface="HK Grotesk Bold"/>
              </a:rPr>
              <a:t>: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B18B8047-B558-5F22-82B0-61F0ADAF87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1CFB6279-BE27-9F5D-0CC5-2BEE5EB0D3FC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EE4B15-0B41-D7F9-D014-A68B7C38B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25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8DB76A-0106-0484-E2CE-3B0DDEA48E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70" y="1558456"/>
            <a:ext cx="9341970" cy="4815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959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CDCBC-085F-63F0-B222-F9CBFD05C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3AB30986-C38F-52B5-A2DC-80BB9768C51D}"/>
              </a:ext>
            </a:extLst>
          </p:cNvPr>
          <p:cNvSpPr/>
          <p:nvPr/>
        </p:nvSpPr>
        <p:spPr>
          <a:xfrm>
            <a:off x="273075" y="211475"/>
            <a:ext cx="10102565" cy="9848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  <a:p>
            <a:pPr>
              <a:spcBef>
                <a:spcPct val="0"/>
              </a:spcBef>
            </a:pPr>
            <a:r>
              <a:rPr lang="en-US" sz="2200" dirty="0">
                <a:solidFill>
                  <a:srgbClr val="0187CC"/>
                </a:solidFill>
                <a:latin typeface="HK Grotesk Bold"/>
              </a:rPr>
              <a:t> Backend on Azure</a:t>
            </a:r>
            <a:r>
              <a:rPr lang="en-US" sz="3200" dirty="0">
                <a:solidFill>
                  <a:srgbClr val="0187CC"/>
                </a:solidFill>
                <a:latin typeface="HK Grotesk Bold"/>
              </a:rPr>
              <a:t>: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82B3224B-183D-F355-9780-B8AEC40912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642EF66F-A99E-B6A5-A395-81FFA0789B3D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EED971-4AA1-C047-2BAE-E37346F4D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26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06CE06-6FA0-8394-973A-93C5A56ED7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427" y="1196360"/>
            <a:ext cx="9167854" cy="4804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43049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52B0C-7ADB-2F3E-9BE4-4A177BD12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A9388810-EEBD-297E-5475-2BF04928AD8F}"/>
              </a:ext>
            </a:extLst>
          </p:cNvPr>
          <p:cNvSpPr/>
          <p:nvPr/>
        </p:nvSpPr>
        <p:spPr>
          <a:xfrm>
            <a:off x="273075" y="211475"/>
            <a:ext cx="10102565" cy="9848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  <a:p>
            <a:pPr>
              <a:spcBef>
                <a:spcPct val="0"/>
              </a:spcBef>
            </a:pPr>
            <a:r>
              <a:rPr lang="en-US" sz="2200" dirty="0">
                <a:solidFill>
                  <a:srgbClr val="0187CC"/>
                </a:solidFill>
                <a:latin typeface="HK Grotesk Bold"/>
              </a:rPr>
              <a:t> Backend on Azure</a:t>
            </a:r>
            <a:r>
              <a:rPr lang="en-US" sz="3200" dirty="0">
                <a:solidFill>
                  <a:srgbClr val="0187CC"/>
                </a:solidFill>
                <a:latin typeface="HK Grotesk Bold"/>
              </a:rPr>
              <a:t>: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961B58C4-1B82-1F93-08D5-DD7989D8FF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809476EB-3D22-9000-0D7E-367C9CF905FB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CAF752-3600-1A48-22B7-43270015C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27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275C85D-5978-1382-9E25-F233E5E0D4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546" y="1258588"/>
            <a:ext cx="9414344" cy="4688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9691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BB0DA-2D3C-0C8A-BDEC-3612BD982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49A80B73-7D04-B1B0-594C-53D3B562CE06}"/>
              </a:ext>
            </a:extLst>
          </p:cNvPr>
          <p:cNvSpPr/>
          <p:nvPr/>
        </p:nvSpPr>
        <p:spPr>
          <a:xfrm>
            <a:off x="273075" y="211475"/>
            <a:ext cx="10102565" cy="9848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  <a:p>
            <a:pPr>
              <a:spcBef>
                <a:spcPct val="0"/>
              </a:spcBef>
            </a:pPr>
            <a:r>
              <a:rPr lang="en-US" sz="2200" dirty="0">
                <a:solidFill>
                  <a:srgbClr val="0187CC"/>
                </a:solidFill>
                <a:latin typeface="HK Grotesk Bold"/>
              </a:rPr>
              <a:t> Backend on Azure</a:t>
            </a:r>
            <a:r>
              <a:rPr lang="en-US" sz="3200" dirty="0">
                <a:solidFill>
                  <a:srgbClr val="0187CC"/>
                </a:solidFill>
                <a:latin typeface="HK Grotesk Bold"/>
              </a:rPr>
              <a:t>: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001EA0D9-C723-4490-7624-99AC63BAD0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28FFD0AA-DBA0-7D98-BCAB-62B2F8A1C394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AE4ECC-251E-7190-71F2-DBB3A295F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28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BF69DF-DB7C-B6B3-5B96-8AB9109328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883" y="1196360"/>
            <a:ext cx="10646798" cy="5166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58124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35B2B-35D5-8BE5-BDDF-E99A6A037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9BCDBFE9-7C6F-E5AF-54E1-8833AA6B9350}"/>
              </a:ext>
            </a:extLst>
          </p:cNvPr>
          <p:cNvSpPr/>
          <p:nvPr/>
        </p:nvSpPr>
        <p:spPr>
          <a:xfrm>
            <a:off x="273075" y="211475"/>
            <a:ext cx="10102565" cy="82484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  <a:p>
            <a:pPr>
              <a:spcBef>
                <a:spcPct val="0"/>
              </a:spcBef>
            </a:pPr>
            <a:r>
              <a:rPr lang="en-US" sz="2200" dirty="0">
                <a:solidFill>
                  <a:srgbClr val="0187CC"/>
                </a:solidFill>
                <a:latin typeface="HK Grotesk Bold"/>
              </a:rPr>
              <a:t>GitHub URL’s</a:t>
            </a:r>
            <a:r>
              <a:rPr lang="en-US" sz="3200" dirty="0">
                <a:solidFill>
                  <a:srgbClr val="0187CC"/>
                </a:solidFill>
                <a:latin typeface="HK Grotesk Bold"/>
              </a:rPr>
              <a:t>:</a:t>
            </a:r>
          </a:p>
          <a:p>
            <a:pPr>
              <a:spcBef>
                <a:spcPct val="0"/>
              </a:spcBef>
            </a:pPr>
            <a:endParaRPr lang="en-US" sz="32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r>
              <a:rPr lang="en-US" sz="2000" dirty="0">
                <a:solidFill>
                  <a:srgbClr val="0187CC"/>
                </a:solidFill>
                <a:latin typeface="HK Grotesk Bold"/>
              </a:rPr>
              <a:t>Pranav Bhatnagar(58684) -</a:t>
            </a:r>
            <a:r>
              <a:rPr lang="en-US" sz="2000" dirty="0" err="1">
                <a:solidFill>
                  <a:srgbClr val="0187CC"/>
                </a:solidFill>
                <a:latin typeface="HK Grotesk Bold"/>
              </a:rPr>
              <a:t>github</a:t>
            </a:r>
            <a:r>
              <a:rPr lang="en-US" sz="2000" dirty="0">
                <a:solidFill>
                  <a:srgbClr val="0187CC"/>
                </a:solidFill>
                <a:latin typeface="HK Grotesk Bold"/>
              </a:rPr>
              <a:t> url: </a:t>
            </a:r>
            <a:r>
              <a:rPr lang="en-US" sz="2000" dirty="0">
                <a:solidFill>
                  <a:srgbClr val="0187CC"/>
                </a:solidFill>
                <a:latin typeface="HK Grotesk Bold"/>
                <a:hlinkClick r:id="rId2"/>
              </a:rPr>
              <a:t>https://github.com/Bhatnagar09/Wipro-Capstoneproject-team14.git</a:t>
            </a: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7D4CF5E9-8809-8D97-9797-63747F8AF8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602D85A4-A096-6C67-4A48-BAF9F69BF628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3667A-A6C1-5926-8BF0-1BF637F9F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29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5553B7-3446-77F4-2800-607225F095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1864" y="2401293"/>
            <a:ext cx="8507896" cy="40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3991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9E4DF-3972-996A-4266-FB703E7E1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56D839EA-1473-7269-A457-CA24C9FF2756}"/>
              </a:ext>
            </a:extLst>
          </p:cNvPr>
          <p:cNvSpPr/>
          <p:nvPr/>
        </p:nvSpPr>
        <p:spPr>
          <a:xfrm>
            <a:off x="273075" y="211475"/>
            <a:ext cx="10102565" cy="714041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  <a:p>
            <a:pPr>
              <a:spcBef>
                <a:spcPct val="0"/>
              </a:spcBef>
            </a:pPr>
            <a:r>
              <a:rPr lang="en-US" sz="2200">
                <a:solidFill>
                  <a:srgbClr val="0187CC"/>
                </a:solidFill>
                <a:latin typeface="HK Grotesk Bold"/>
              </a:rPr>
              <a:t>GitHub </a:t>
            </a:r>
            <a:r>
              <a:rPr lang="en-US" sz="2200" dirty="0">
                <a:solidFill>
                  <a:srgbClr val="0187CC"/>
                </a:solidFill>
                <a:latin typeface="HK Grotesk Bold"/>
              </a:rPr>
              <a:t>URL’s</a:t>
            </a:r>
            <a:r>
              <a:rPr lang="en-US" sz="3200" dirty="0">
                <a:solidFill>
                  <a:srgbClr val="0187CC"/>
                </a:solidFill>
                <a:latin typeface="HK Grotesk Bold"/>
              </a:rPr>
              <a:t>:</a:t>
            </a:r>
          </a:p>
          <a:p>
            <a:pPr>
              <a:spcBef>
                <a:spcPct val="0"/>
              </a:spcBef>
            </a:pPr>
            <a:r>
              <a:rPr lang="en-US" sz="2000" dirty="0">
                <a:solidFill>
                  <a:srgbClr val="0187CC"/>
                </a:solidFill>
                <a:latin typeface="HK Grotesk Bold"/>
              </a:rPr>
              <a:t>Padala </a:t>
            </a:r>
            <a:r>
              <a:rPr lang="en-US" sz="2000" dirty="0" err="1">
                <a:solidFill>
                  <a:srgbClr val="0187CC"/>
                </a:solidFill>
                <a:latin typeface="HK Grotesk Bold"/>
              </a:rPr>
              <a:t>Manvitha</a:t>
            </a:r>
            <a:r>
              <a:rPr lang="en-US" sz="2000" dirty="0">
                <a:solidFill>
                  <a:srgbClr val="0187CC"/>
                </a:solidFill>
                <a:latin typeface="HK Grotesk Bold"/>
              </a:rPr>
              <a:t>(58679)- </a:t>
            </a:r>
            <a:r>
              <a:rPr lang="en-US" sz="2000" dirty="0">
                <a:solidFill>
                  <a:srgbClr val="0187CC"/>
                </a:solidFill>
                <a:latin typeface="HK Grotesk Bold"/>
                <a:hlinkClick r:id="rId2"/>
              </a:rPr>
              <a:t>https://github.com/MANVITHA-PADALA/onlinebookstore</a:t>
            </a: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FB1147BE-48DF-B1CF-7A0F-2B3C20BAB4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BBCDBB7F-706B-E47D-5518-A7564078BA14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9D88D2-2B8A-3C6F-19C5-EEA48BEEA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30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01540C-8C02-5091-600C-BBC577092B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779" y="1622066"/>
            <a:ext cx="8873618" cy="4734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3632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3939</TotalTime>
  <Words>1231</Words>
  <Application>Microsoft Office PowerPoint</Application>
  <PresentationFormat>Widescreen</PresentationFormat>
  <Paragraphs>263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9" baseType="lpstr">
      <vt:lpstr>Aptos</vt:lpstr>
      <vt:lpstr>Aptos Display</vt:lpstr>
      <vt:lpstr>Arial</vt:lpstr>
      <vt:lpstr>Calibri</vt:lpstr>
      <vt:lpstr>HK Grotesk</vt:lpstr>
      <vt:lpstr>HK Grotesk Bold</vt:lpstr>
      <vt:lpstr>HK Grotesk Light</vt:lpstr>
      <vt:lpstr>HK Grotesk Light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Satish M</dc:creator>
  <cp:lastModifiedBy>MANVITHA PADALA (RA2111047010184)</cp:lastModifiedBy>
  <cp:revision>34</cp:revision>
  <dcterms:created xsi:type="dcterms:W3CDTF">2024-05-04T13:11:57Z</dcterms:created>
  <dcterms:modified xsi:type="dcterms:W3CDTF">2026-02-09T17:35:02Z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0f486e-1d0b-4fd6-a73f-04d94048a140_Enabled">
    <vt:lpwstr>true</vt:lpwstr>
  </property>
  <property fmtid="{D5CDD505-2E9C-101B-9397-08002B2CF9AE}" pid="3" name="MSIP_Label_e80f486e-1d0b-4fd6-a73f-04d94048a140_SetDate">
    <vt:lpwstr>2026-02-04T04:06:58Z</vt:lpwstr>
  </property>
  <property fmtid="{D5CDD505-2E9C-101B-9397-08002B2CF9AE}" pid="4" name="MSIP_Label_e80f486e-1d0b-4fd6-a73f-04d94048a140_Method">
    <vt:lpwstr>Standard</vt:lpwstr>
  </property>
  <property fmtid="{D5CDD505-2E9C-101B-9397-08002B2CF9AE}" pid="5" name="MSIP_Label_e80f486e-1d0b-4fd6-a73f-04d94048a140_Name">
    <vt:lpwstr>General - RPS Data</vt:lpwstr>
  </property>
  <property fmtid="{D5CDD505-2E9C-101B-9397-08002B2CF9AE}" pid="6" name="MSIP_Label_e80f486e-1d0b-4fd6-a73f-04d94048a140_SiteId">
    <vt:lpwstr>6565c732-1653-4ffe-b9d3-80a4f1c0c25d</vt:lpwstr>
  </property>
  <property fmtid="{D5CDD505-2E9C-101B-9397-08002B2CF9AE}" pid="7" name="MSIP_Label_e80f486e-1d0b-4fd6-a73f-04d94048a140_ActionId">
    <vt:lpwstr>0c3cc09a-e54e-4ae4-a9fa-efa3f9d629ce</vt:lpwstr>
  </property>
  <property fmtid="{D5CDD505-2E9C-101B-9397-08002B2CF9AE}" pid="8" name="MSIP_Label_e80f486e-1d0b-4fd6-a73f-04d94048a140_ContentBits">
    <vt:lpwstr>2</vt:lpwstr>
  </property>
  <property fmtid="{D5CDD505-2E9C-101B-9397-08002B2CF9AE}" pid="9" name="MSIP_Label_e80f486e-1d0b-4fd6-a73f-04d94048a140_Tag">
    <vt:lpwstr>10, 3, 0, 1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General - RPS Data</vt:lpwstr>
  </property>
</Properties>
</file>